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Chunk recall@5</c:v>
                </c:pt>
              </c:strCache>
            </c:strRef>
          </c:tx>
          <c:spPr>
            <a:solidFill>
              <a:srgbClr val="8A2B24"/>
            </a:solidFill>
          </c:spPr>
          <c:cat>
            <c:strRef>
              <c:f>Sheet1!$A$2:$A$7</c:f>
              <c:strCache>
                <c:ptCount val="6"/>
                <c:pt idx="0">
                  <c:v>Hybrid (baseline)</c:v>
                </c:pt>
                <c:pt idx="1">
                  <c:v>BM25 only</c:v>
                </c:pt>
                <c:pt idx="2">
                  <c:v>Dense only</c:v>
                </c:pt>
                <c:pt idx="3">
                  <c:v>Hybrid + cross-encoder rerank</c:v>
                </c:pt>
                <c:pt idx="4">
                  <c:v>256-token chunks</c:v>
                </c:pt>
                <c:pt idx="5">
                  <c:v>1024-token chunks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0.867</c:v>
                </c:pt>
                <c:pt idx="1">
                  <c:v>0.933</c:v>
                </c:pt>
                <c:pt idx="2">
                  <c:v>0.733</c:v>
                </c:pt>
                <c:pt idx="3">
                  <c:v>0.867</c:v>
                </c:pt>
                <c:pt idx="4">
                  <c:v>0.8</c:v>
                </c:pt>
                <c:pt idx="5">
                  <c:v>0.767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Chunk MRR</c:v>
                </c:pt>
              </c:strCache>
            </c:strRef>
          </c:tx>
          <c:spPr>
            <a:solidFill>
              <a:srgbClr val="B8AFA6"/>
            </a:solidFill>
          </c:spPr>
          <c:cat>
            <c:strRef>
              <c:f>Sheet1!$A$2:$A$7</c:f>
              <c:strCache>
                <c:ptCount val="6"/>
                <c:pt idx="0">
                  <c:v>Hybrid (baseline)</c:v>
                </c:pt>
                <c:pt idx="1">
                  <c:v>BM25 only</c:v>
                </c:pt>
                <c:pt idx="2">
                  <c:v>Dense only</c:v>
                </c:pt>
                <c:pt idx="3">
                  <c:v>Hybrid + cross-encoder rerank</c:v>
                </c:pt>
                <c:pt idx="4">
                  <c:v>256-token chunks</c:v>
                </c:pt>
                <c:pt idx="5">
                  <c:v>1024-token chunks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0.662</c:v>
                </c:pt>
                <c:pt idx="1">
                  <c:v>0.588</c:v>
                </c:pt>
                <c:pt idx="2">
                  <c:v>0.458</c:v>
                </c:pt>
                <c:pt idx="3">
                  <c:v>0.729</c:v>
                </c:pt>
                <c:pt idx="4">
                  <c:v>0.598</c:v>
                </c:pt>
                <c:pt idx="5">
                  <c:v>0.653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b"/>
        <c:majorGridlines>
          <c:spPr>
            <a:ln>
              <a:solidFill>
                <a:srgbClr val="E3DED7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8AFA6"/>
                </a:solidFill>
                <a:latin typeface="Calibri"/>
              </a:rPr>
              <a:t>Local-First RAG Research Companion · September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74519"/>
            <a:ext cx="164592" cy="164592"/>
          </a:xfrm>
          <a:prstGeom prst="rect">
            <a:avLst/>
          </a:prstGeom>
          <a:solidFill>
            <a:srgbClr val="8A2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Local-First RAG Research Companion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4612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D9D2CA"/>
                </a:solidFill>
                <a:latin typeface="Calibri"/>
              </a:rPr>
              <a:t>Discover, index, retrieve and answer over scientific papers on an 8 GB CPU-only Windows machine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D9D2CA"/>
                </a:solidFill>
                <a:latin typeface="Calibri"/>
              </a:rPr>
              <a:t>Charles Solomon ·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1206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B8AFA6"/>
                </a:solidFill>
                <a:latin typeface="Calibri"/>
              </a:rPr>
              <a:t>Code, data and results: github.com/Charles2524/Research_RAG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B8AFA6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B2622"/>
                </a:solidFill>
                <a:latin typeface="Cambria"/>
              </a:rPr>
              <a:t>Literature survey (1 of 2): 2025-2026 journal publications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25A"/>
                </a:solidFill>
                <a:latin typeface="Calibri"/>
              </a:rPr>
              <a:t>Local-First RAG Research Companion · 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642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B2622"/>
                </a:solidFill>
                <a:latin typeface="Calibri"/>
              </a:rPr>
              <a:t>–  Yan et al. (2025), SSRN Electronic Journal. Corrective Retrieval Augmented Generation (CRAG).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B2622"/>
                </a:solidFill>
                <a:latin typeface="Calibri"/>
              </a:rPr>
              <a:t>–  Ke et al. (2025), npj Digital Medicine. RAG for 10 LLMs in assessing medical fitness.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B2622"/>
                </a:solidFill>
                <a:latin typeface="Calibri"/>
              </a:rPr>
              <a:t>–  Vishwanath et al. (2025), BMJ Digital Health &amp; AI. MedMobile: a 3.8B clinical model.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B2622"/>
                </a:solidFill>
                <a:latin typeface="Calibri"/>
              </a:rPr>
              <a:t>–  Shen et al. (2025), BMJ Digital Health &amp; AI. LLM-enhanced framework for systematic reviews.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B2622"/>
                </a:solidFill>
                <a:latin typeface="Calibri"/>
              </a:rPr>
              <a:t>–  Klesel &amp; Wittmann (2025), Business &amp; Information Systems Eng.. Retrieval-Augmented Generation (catchword).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B2622"/>
                </a:solidFill>
                <a:latin typeface="Calibri"/>
              </a:rPr>
              <a:t>–  Yang et al. (2025), npj Health Systems. RAG for generative AI in health care (perspective).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B2622"/>
                </a:solidFill>
                <a:latin typeface="Calibri"/>
              </a:rPr>
              <a:t>–  Zhao P. et al. (2026), Data Science and Engineering. RAG for AI-Generated Content: a survey.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B2622"/>
                </a:solidFill>
                <a:latin typeface="Calibri"/>
              </a:rPr>
              <a:t>–  Spens &amp; Burgess (2026), Nature Communications. Hippocampo-neocortical interaction as compressive RAG.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625A"/>
                </a:solidFill>
                <a:latin typeface="Calibri"/>
              </a:rPr>
              <a:t>16 works in total: 13 journal articles and 3 preprints, all published 2025 or 2026, all part of the indexed corpus.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25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B2622"/>
                </a:solidFill>
                <a:latin typeface="Cambria"/>
              </a:rPr>
              <a:t>Literature survey (2 of 2): 2026 journals and preprints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25A"/>
                </a:solidFill>
                <a:latin typeface="Calibri"/>
              </a:rPr>
              <a:t>Local-First RAG Research Companion · 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642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B2622"/>
                </a:solidFill>
                <a:latin typeface="Calibri"/>
              </a:rPr>
              <a:t>–  Godoy et al. (2026), BMC Med. Informatics &amp; Decision Making. RAG extraction from mammography reports.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B2622"/>
                </a:solidFill>
                <a:latin typeface="Calibri"/>
              </a:rPr>
              <a:t>–  Liu et al. (2026), Digital Health. Dynamic alignment for heart-failure decision support.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B2622"/>
                </a:solidFill>
                <a:latin typeface="Calibri"/>
              </a:rPr>
              <a:t>–  Almohaimeed et al. (2026), Frontiers in Big Data. Benchmarking RAG LLMs for Arabic noise robustness.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B2622"/>
                </a:solidFill>
                <a:latin typeface="Calibri"/>
              </a:rPr>
              <a:t>–  Kang et al. (2026), J. Medical Internet Research. Health-education agent for gastric cancer.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B2622"/>
                </a:solidFill>
                <a:latin typeface="Calibri"/>
              </a:rPr>
              <a:t>–  Kuster et al. (2026), Frontiers in Neurorobotics. VLM-guided RAG for robot action prediction.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B2622"/>
                </a:solidFill>
                <a:latin typeface="Calibri"/>
              </a:rPr>
              <a:t>–  Fasolino (2026), Qeios (preprint). In RAG We Trust? Robustness under document poisoning.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B2622"/>
                </a:solidFill>
                <a:latin typeface="Calibri"/>
              </a:rPr>
              <a:t>–  Defilippo et al. (2026), Research Square (preprint). RAGtio: evaluating hybrid RAG pipelines.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B2622"/>
                </a:solidFill>
                <a:latin typeface="Calibri"/>
              </a:rPr>
              <a:t>–  Priyad et al. (2026), Research Square (preprint). Agentic RAG for verifiable regulatory compliance.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625A"/>
                </a:solidFill>
                <a:latin typeface="Calibri"/>
              </a:rPr>
              <a:t>Corpus discovered with the system itself: OpenAlex, arXiv, Europe PMC and PubMed, de-duplicated across sources.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25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B2622"/>
                </a:solidFill>
                <a:latin typeface="Cambria"/>
              </a:rPr>
              <a:t>Comparison of the surveyed papers (1 of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25A"/>
                </a:solidFill>
                <a:latin typeface="Calibri"/>
              </a:rPr>
              <a:t>Local-First RAG Research Companion · September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1064238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7884"/>
                <a:gridCol w="1357884"/>
                <a:gridCol w="2564891"/>
                <a:gridCol w="1760220"/>
                <a:gridCol w="4023359"/>
              </a:tblGrid>
              <a:tr h="558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Paper</a:t>
                      </a:r>
                    </a:p>
                  </a:txBody>
                  <a:tcPr>
                    <a:solidFill>
                      <a:srgbClr val="2B26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Domain</a:t>
                      </a:r>
                    </a:p>
                  </a:txBody>
                  <a:tcPr>
                    <a:solidFill>
                      <a:srgbClr val="2B26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Retrieval approach</a:t>
                      </a:r>
                    </a:p>
                  </a:txBody>
                  <a:tcPr>
                    <a:solidFill>
                      <a:srgbClr val="2B26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Generator</a:t>
                      </a:r>
                    </a:p>
                  </a:txBody>
                  <a:tcPr>
                    <a:solidFill>
                      <a:srgbClr val="2B26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Key result</a:t>
                      </a:r>
                    </a:p>
                  </a:txBody>
                  <a:tcPr>
                    <a:solidFill>
                      <a:srgbClr val="2B262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622"/>
                          </a:solidFill>
                          <a:latin typeface="Calibri"/>
                        </a:rPr>
                        <a:t>Yan et al. 2025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Open-domain QA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Any retriever + T5-large evaluator; web search fallback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LLaMA-2 / others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Retrieval evaluator (T5-large) grades retrieved docs and triggers correct / ambiguous / incorrect actions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622"/>
                          </a:solidFill>
                          <a:latin typeface="Calibri"/>
                        </a:rPr>
                        <a:t>Ke et al. 2025</a:t>
                      </a:r>
                    </a:p>
                  </a:txBody>
                  <a:tcPr marL="54864" marR="54864" marT="27432" marB="27432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Perioperative medicine</a:t>
                      </a:r>
                    </a:p>
                  </a:txBody>
                  <a:tcPr marL="54864" marR="54864" marT="27432" marB="27432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LlamaIndex auto-merging, top-k 30, 58 guidelines</a:t>
                      </a:r>
                    </a:p>
                  </a:txBody>
                  <a:tcPr marL="54864" marR="54864" marT="27432" marB="27432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GPT-3.5/4/4o, Gemini, Llama 2/3, Claude</a:t>
                      </a:r>
                    </a:p>
                  </a:txBody>
                  <a:tcPr marL="54864" marR="54864" marT="27432" marB="27432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3,234 responses vs 448 human answers; GPT-4 + RAG answered in ~20 s at human-level accuracy</a:t>
                      </a:r>
                    </a:p>
                  </a:txBody>
                  <a:tcPr marL="54864" marR="54864" marT="27432" marB="27432">
                    <a:solidFill>
                      <a:srgbClr val="F4F1EC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622"/>
                          </a:solidFill>
                          <a:latin typeface="Calibri"/>
                        </a:rPr>
                        <a:t>Vishwanath et al. 2025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Medical QA on device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RAG tried as an add-on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phi-3-mini 3.8B (fine-tuned)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75.7% on MedQA; RAG lowered accuracy by 12.6 points on this small model (negative result)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622"/>
                          </a:solidFill>
                          <a:latin typeface="Calibri"/>
                        </a:rPr>
                        <a:t>Shen et al. 2025</a:t>
                      </a:r>
                    </a:p>
                  </a:txBody>
                  <a:tcPr marL="54864" marR="54864" marT="27432" marB="27432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Evidence synthesis</a:t>
                      </a:r>
                    </a:p>
                  </a:txBody>
                  <a:tcPr marL="54864" marR="54864" marT="27432" marB="27432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RAG + agent architecture (framework)</a:t>
                      </a:r>
                    </a:p>
                  </a:txBody>
                  <a:tcPr marL="54864" marR="54864" marT="27432" marB="27432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Various</a:t>
                      </a:r>
                    </a:p>
                  </a:txBody>
                  <a:tcPr marL="54864" marR="54864" marT="27432" marB="27432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21 studies reviewed; RAG and agents proposed against hallucination and bias; consultant vs assistant roles</a:t>
                      </a:r>
                    </a:p>
                  </a:txBody>
                  <a:tcPr marL="54864" marR="54864" marT="27432" marB="27432">
                    <a:solidFill>
                      <a:srgbClr val="F4F1EC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622"/>
                          </a:solidFill>
                          <a:latin typeface="Calibri"/>
                        </a:rPr>
                        <a:t>Klesel &amp; Wittmann 2025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Enterprise search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Chunk-level retrieval; hierarchical methods discussed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Generic LLM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Names the 'blinkered chunk effect': an isolated chunk cannot be understood without wider document context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622"/>
                          </a:solidFill>
                          <a:latin typeface="Calibri"/>
                        </a:rPr>
                        <a:t>Yang et al. 2025</a:t>
                      </a:r>
                    </a:p>
                  </a:txBody>
                  <a:tcPr marL="54864" marR="54864" marT="27432" marB="27432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Health care</a:t>
                      </a:r>
                    </a:p>
                  </a:txBody>
                  <a:tcPr marL="54864" marR="54864" marT="27432" marB="27432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External-knowledge retrieval (conceptual)</a:t>
                      </a:r>
                    </a:p>
                  </a:txBody>
                  <a:tcPr marL="54864" marR="54864" marT="27432" marB="27432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Generic LLM</a:t>
                      </a:r>
                    </a:p>
                  </a:txBody>
                  <a:tcPr marL="54864" marR="54864" marT="27432" marB="27432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Frames RAG's contribution as equity, reliability and personalisation; lists implementation limits</a:t>
                      </a:r>
                    </a:p>
                  </a:txBody>
                  <a:tcPr marL="54864" marR="54864" marT="27432" marB="27432">
                    <a:solidFill>
                      <a:srgbClr val="F4F1EC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622"/>
                          </a:solidFill>
                          <a:latin typeface="Calibri"/>
                        </a:rPr>
                        <a:t>Zhao P. et al. 2026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Cross-modal survey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Taxonomy of RAG foundations and enhancements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Any generator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Surveys RAG foundations, enhancements, applications and benchmarks across modalities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622"/>
                          </a:solidFill>
                          <a:latin typeface="Calibri"/>
                        </a:rPr>
                        <a:t>Spens &amp; Burgess 2026</a:t>
                      </a:r>
                    </a:p>
                  </a:txBody>
                  <a:tcPr marL="54864" marR="54864" marT="27432" marB="27432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Computational neuroscience</a:t>
                      </a:r>
                    </a:p>
                  </a:txBody>
                  <a:tcPr marL="54864" marR="54864" marT="27432" marB="27432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Hippocampal episodic retrieval into working memory</a:t>
                      </a:r>
                    </a:p>
                  </a:txBody>
                  <a:tcPr marL="54864" marR="54864" marT="27432" marB="27432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Neocortical generative net</a:t>
                      </a:r>
                    </a:p>
                  </a:txBody>
                  <a:tcPr marL="54864" marR="54864" marT="27432" marB="27432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Models memory as compressive RAG: episodes compressed, consolidated, retrieved as a basis for generation</a:t>
                      </a:r>
                    </a:p>
                  </a:txBody>
                  <a:tcPr marL="54864" marR="54864" marT="27432" marB="27432">
                    <a:solidFill>
                      <a:srgbClr val="F4F1E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25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B2622"/>
                </a:solidFill>
                <a:latin typeface="Cambria"/>
              </a:rPr>
              <a:t>Comparison of the surveyed papers (2 of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25A"/>
                </a:solidFill>
                <a:latin typeface="Calibri"/>
              </a:rPr>
              <a:t>Local-First RAG Research Companion · September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1064238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7884"/>
                <a:gridCol w="1357884"/>
                <a:gridCol w="2564891"/>
                <a:gridCol w="1760220"/>
                <a:gridCol w="4023359"/>
              </a:tblGrid>
              <a:tr h="558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Paper</a:t>
                      </a:r>
                    </a:p>
                  </a:txBody>
                  <a:tcPr>
                    <a:solidFill>
                      <a:srgbClr val="2B26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Domain</a:t>
                      </a:r>
                    </a:p>
                  </a:txBody>
                  <a:tcPr>
                    <a:solidFill>
                      <a:srgbClr val="2B26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Retrieval approach</a:t>
                      </a:r>
                    </a:p>
                  </a:txBody>
                  <a:tcPr>
                    <a:solidFill>
                      <a:srgbClr val="2B26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Generator</a:t>
                      </a:r>
                    </a:p>
                  </a:txBody>
                  <a:tcPr>
                    <a:solidFill>
                      <a:srgbClr val="2B26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Key result</a:t>
                      </a:r>
                    </a:p>
                  </a:txBody>
                  <a:tcPr>
                    <a:solidFill>
                      <a:srgbClr val="2B262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622"/>
                          </a:solidFill>
                          <a:latin typeface="Calibri"/>
                        </a:rPr>
                        <a:t>Godoy et al. 2026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Radiology NLP (Spanish)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all-MiniLM-L6-v2 embeddings; annotated reports as demonstrations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GPT-based + local open-weight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NER F1 0.89-0.94 vs fine-tuned BETO 0.97 with no task training; RE up to 0.78 F1; cents per report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622"/>
                          </a:solidFill>
                          <a:latin typeface="Calibri"/>
                        </a:rPr>
                        <a:t>Liu et al. 2026</a:t>
                      </a:r>
                    </a:p>
                  </a:txBody>
                  <a:tcPr marL="54864" marR="54864" marT="27432" marB="27432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Cardiology</a:t>
                      </a:r>
                    </a:p>
                  </a:txBody>
                  <a:tcPr marL="54864" marR="54864" marT="27432" marB="27432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Guideline RAG as the final alignment stage</a:t>
                      </a:r>
                    </a:p>
                  </a:txBody>
                  <a:tcPr marL="54864" marR="54864" marT="27432" marB="27432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LLaMA-3.1 (CPT, SFT, GRPO, RAG)</a:t>
                      </a:r>
                    </a:p>
                  </a:txBody>
                  <a:tcPr marL="54864" marR="54864" marT="27432" marB="27432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Clinical score 0.716 -&gt; 0.864 and risk safety 0.820 -&gt; 0.948 with RAG; BLEU-4 fell (alignment tax)</a:t>
                      </a:r>
                    </a:p>
                  </a:txBody>
                  <a:tcPr marL="54864" marR="54864" marT="27432" marB="27432">
                    <a:solidFill>
                      <a:srgbClr val="F4F1EC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622"/>
                          </a:solidFill>
                          <a:latin typeface="Calibri"/>
                        </a:rPr>
                        <a:t>Almohaimeed et al. 2026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Arabic QA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Retrieved documents with injected noise; Gemini-2.5 relevance labels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Several LLMs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Noise-robustness benchmark; relevance of ~300-word documents labelled automatically, 500 checked by hand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622"/>
                          </a:solidFill>
                          <a:latin typeface="Calibri"/>
                        </a:rPr>
                        <a:t>Kang et al. 2026</a:t>
                      </a:r>
                    </a:p>
                  </a:txBody>
                  <a:tcPr marL="54864" marR="54864" marT="27432" marB="27432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Patient education</a:t>
                      </a:r>
                    </a:p>
                  </a:txBody>
                  <a:tcPr marL="54864" marR="54864" marT="27432" marB="27432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Sparse retrieval of 50-100 candidates, medical reranker picks top 3</a:t>
                      </a:r>
                    </a:p>
                  </a:txBody>
                  <a:tcPr marL="54864" marR="54864" marT="27432" marB="27432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OpenMEDLab 2.0</a:t>
                      </a:r>
                    </a:p>
                  </a:txBody>
                  <a:tcPr marL="54864" marR="54864" marT="27432" marB="27432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Action-research deployment at a cancer centre; accuracy, usability and experience assessed with patients</a:t>
                      </a:r>
                    </a:p>
                  </a:txBody>
                  <a:tcPr marL="54864" marR="54864" marT="27432" marB="27432">
                    <a:solidFill>
                      <a:srgbClr val="F4F1EC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622"/>
                          </a:solidFill>
                          <a:latin typeface="Calibri"/>
                        </a:rPr>
                        <a:t>Kuster et al. 2026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Robotics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Vision-language retrieval over demonstrations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SigLIP2 / CLIP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SigLIP2 reached 68.47% top-1 on cropped images vs 46.88% for CLIP-Large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622"/>
                          </a:solidFill>
                          <a:latin typeface="Calibri"/>
                        </a:rPr>
                        <a:t>Fasolino 2026</a:t>
                      </a:r>
                    </a:p>
                  </a:txBody>
                  <a:tcPr marL="54864" marR="54864" marT="27432" marB="27432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Fact checking (FEVER)</a:t>
                      </a:r>
                    </a:p>
                  </a:txBody>
                  <a:tcPr marL="54864" marR="54864" marT="27432" marB="27432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MiniLM + FAISS, k = 3</a:t>
                      </a:r>
                    </a:p>
                  </a:txBody>
                  <a:tcPr marL="54864" marR="54864" marT="27432" marB="27432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Llama 3.1 8B Q4_K_M on CPU (llama.cpp)</a:t>
                      </a:r>
                    </a:p>
                  </a:txBody>
                  <a:tcPr marL="54864" marR="54864" marT="27432" marB="27432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Accuracy 77.9% clean -&gt; 43.5% fully poisoned; entity swap flips most answers (23.5% fooled rate)</a:t>
                      </a:r>
                    </a:p>
                  </a:txBody>
                  <a:tcPr marL="54864" marR="54864" marT="27432" marB="27432">
                    <a:solidFill>
                      <a:srgbClr val="F4F1EC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622"/>
                          </a:solidFill>
                          <a:latin typeface="Calibri"/>
                        </a:rPr>
                        <a:t>Defilippo et al. 2026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Biomedical corpora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Sparse, dense, hybrid (RRF 0.7/0.3, k = 60), + cross-encoder rerank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Pipeline-agnostic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Synthetic queries generated from indexed chunks inflate retrieval scores; human queries (Mode B) are stricter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622"/>
                          </a:solidFill>
                          <a:latin typeface="Calibri"/>
                        </a:rPr>
                        <a:t>Priyad et al. 2026</a:t>
                      </a:r>
                    </a:p>
                  </a:txBody>
                  <a:tcPr marL="54864" marR="54864" marT="27432" marB="27432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Urban cyber-physical systems</a:t>
                      </a:r>
                    </a:p>
                  </a:txBody>
                  <a:tcPr marL="54864" marR="54864" marT="27432" marB="27432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Retrieval agent + deterministic critic agent</a:t>
                      </a:r>
                    </a:p>
                  </a:txBody>
                  <a:tcPr marL="54864" marR="54864" marT="27432" marB="27432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LLM after verification</a:t>
                      </a:r>
                    </a:p>
                  </a:txBody>
                  <a:tcPr marL="54864" marR="54864" marT="27432" marB="27432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B2622"/>
                          </a:solidFill>
                          <a:latin typeface="Calibri"/>
                        </a:rPr>
                        <a:t>nDCG@5 0.75 vs 0.58 for CRAG; supersession detection 0.88; critic P = R = F1 = 1.00 on 78 probes</a:t>
                      </a:r>
                    </a:p>
                  </a:txBody>
                  <a:tcPr marL="54864" marR="54864" marT="27432" marB="27432">
                    <a:solidFill>
                      <a:srgbClr val="F4F1E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25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B2622"/>
                </a:solidFill>
                <a:latin typeface="Cambria"/>
              </a:rPr>
              <a:t>Research gap from the 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25A"/>
                </a:solidFill>
                <a:latin typeface="Calibri"/>
              </a:rPr>
              <a:t>Local-First RAG Research Companion · September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34924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5544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8A2B24"/>
                </a:solidFill>
                <a:latin typeface="Calibri"/>
              </a:rPr>
              <a:t>What the literature measures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011680"/>
            <a:ext cx="48463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250">
                <a:solidFill>
                  <a:srgbClr val="2B2622"/>
                </a:solidFill>
                <a:latin typeface="Calibri"/>
              </a:rPr>
              <a:t>–  Answer quality on benchmarks, mostly with API-hosted models (GPT-4, Gemini, Claude) or 8B+ open models on GPUs.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2B2622"/>
                </a:solidFill>
                <a:latin typeface="Calibri"/>
              </a:rPr>
              <a:t>–  Component novelty: evaluators (CRAG), critics (Priyad), structure-aware retrieval (AeroSAR), graph communities (CGS-RAG).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2B2622"/>
                </a:solidFill>
                <a:latin typeface="Calibri"/>
              </a:rPr>
              <a:t>–  Robustness to noise and poisoning (Fasolino; Almohaimeed) for one fixed pipeline.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349240" cy="4937760"/>
          </a:xfrm>
          <a:prstGeom prst="roundRect">
            <a:avLst>
              <a:gd name="adj" fmla="val 300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59" y="15544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8A2B24"/>
                </a:solidFill>
                <a:latin typeface="Calibri"/>
              </a:rPr>
              <a:t>What it leaves open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59" y="2011680"/>
            <a:ext cx="48463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250">
                <a:solidFill>
                  <a:srgbClr val="2B2622"/>
                </a:solidFill>
                <a:latin typeface="Calibri"/>
              </a:rPr>
              <a:t>–  Which retrieval and generation choices matter when the model is small and the machine is an 8 GB CPU laptop: MedMobile shows RAG can even hurt a 3.8B model.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2B2622"/>
                </a:solidFill>
                <a:latin typeface="Calibri"/>
              </a:rPr>
              <a:t>–  Systems cost alongside quality: latency, tokens/s, resident memory and index size are rarely reported together (RAGtio is the exception, retrieval only).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2B2622"/>
                </a:solidFill>
                <a:latin typeface="Calibri"/>
              </a:rPr>
              <a:t>–  A hard privacy boundary: no paper separates a network discovery layer from an offline pipeline and enforces it by test.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2B2622"/>
                </a:solidFill>
                <a:latin typeface="Calibri"/>
              </a:rPr>
              <a:t>–  Citation integrity as a first-class metric: hallucinated references are measured post hoc, not checked against the retrieved set on every answer.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2B2622"/>
                </a:solidFill>
                <a:latin typeface="Calibri"/>
              </a:rPr>
              <a:t>–  Evaluation on synthetic questions inflates results (RAGtio); ground truth needs human verification.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25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B2622"/>
                </a:solidFill>
                <a:latin typeface="Cambria"/>
              </a:rPr>
              <a:t>Novelty points of this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25A"/>
                </a:solidFill>
                <a:latin typeface="Calibri"/>
              </a:rPr>
              <a:t>Local-First RAG Research Companion · September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34924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5544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8A2B24"/>
                </a:solidFill>
                <a:latin typeface="Calibri"/>
              </a:rPr>
              <a:t>Engineering contribution, not a new algorithm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011680"/>
            <a:ext cx="48463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250">
                <a:solidFill>
                  <a:srgbClr val="2B2622"/>
                </a:solidFill>
                <a:latin typeface="Calibri"/>
              </a:rPr>
              <a:t>–  Local-first by construction: discovery and fetch are the only networked modules; parse, chunk, index, retrieve and generate must not import an HTTP client, enforced by an AST test.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2B2622"/>
                </a:solidFill>
                <a:latin typeface="Calibri"/>
              </a:rPr>
              <a:t>–  One-flag offline mode disables every network client; the full pipeline was run under it as a gate.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2B2622"/>
                </a:solidFill>
                <a:latin typeface="Calibri"/>
              </a:rPr>
              <a:t>–  Citation-forced prompt plus a post-generation integrity check: every cited id must exist in the retrieved set; violations are counted, never dropped.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349240" cy="4937760"/>
          </a:xfrm>
          <a:prstGeom prst="roundRect">
            <a:avLst>
              <a:gd name="adj" fmla="val 300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59" y="15544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8A2B24"/>
                </a:solidFill>
                <a:latin typeface="Calibri"/>
              </a:rPr>
              <a:t>Measured, one axis at a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59" y="2011680"/>
            <a:ext cx="48463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250">
                <a:solidFill>
                  <a:srgbClr val="2B2622"/>
                </a:solidFill>
                <a:latin typeface="Calibri"/>
              </a:rPr>
              <a:t>–  Ablation over chunk size, retrieval mode, reranking, context budget and model, each recorded with quality and systems metrics in a single CSV.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2B2622"/>
                </a:solidFill>
                <a:latin typeface="Calibri"/>
              </a:rPr>
              <a:t>–  Chunk-level recall (the retrieved chunk must contain the source passage) because paper-level recall saturates on a small corpus.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2B2622"/>
                </a:solidFill>
                <a:latin typeface="Calibri"/>
              </a:rPr>
              <a:t>–  Runs on 8 GB CPU-only Windows: sqlite-vec with a NumPy fallback, bge-small embeddings, Qwen3 1.7B/4B via Ollama, peak ~4.1 GB.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2B2622"/>
                </a:solidFill>
                <a:latin typeface="Calibri"/>
              </a:rPr>
              <a:t>–  A demo UI that makes verification a click: citation chip -&gt; exact passage, verification line under every answer.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25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B2622"/>
                </a:solidFill>
                <a:latin typeface="Cambria"/>
              </a:rPr>
              <a:t>Proposed methodology: producer-consumer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25A"/>
                </a:solidFill>
                <a:latin typeface="Calibri"/>
              </a:rPr>
              <a:t>Local-First RAG Research Companion · September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566160" cy="3931920"/>
          </a:xfrm>
          <a:prstGeom prst="roundRect">
            <a:avLst>
              <a:gd name="adj" fmla="val 3000"/>
            </a:avLst>
          </a:prstGeom>
          <a:solidFill>
            <a:srgbClr val="F4F1EC"/>
          </a:solidFill>
          <a:ln w="9525">
            <a:solidFill>
              <a:srgbClr val="D9D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8A2B24"/>
                </a:solidFill>
                <a:latin typeface="Calibri"/>
              </a:rPr>
              <a:t>Discovery layer (network)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32004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50">
                <a:solidFill>
                  <a:srgbClr val="2B2622"/>
                </a:solidFill>
                <a:latin typeface="Calibri"/>
              </a:rPr>
              <a:t>–  OpenAlex, arXiv (API + OAI-PMH), Crossref, Unpaywall, Europe PMC, DataCite; Semantic Scholar, CORE, PubMed with free keys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2B2622"/>
                </a:solidFill>
                <a:latin typeface="Calibri"/>
              </a:rPr>
              <a:t>–  Identity: DOI &gt; OpenAlex &gt; arXiv &gt; S2 &gt; title+year; union-find dedup across sources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2B2622"/>
                </a:solidFill>
                <a:latin typeface="Calibri"/>
              </a:rPr>
              <a:t>–  HEAD-probed open-access PDF download, per-paper timeout, status per record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2B2622"/>
                </a:solidFill>
                <a:latin typeface="Calibri"/>
              </a:rPr>
              <a:t>–  Every response cached; polite user-agent and per-source delays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2B2622"/>
                </a:solidFill>
                <a:latin typeface="Calibri"/>
              </a:rPr>
              <a:t>–  Explicit user action only; OFFLINE=1 disables it entirely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206240" y="3063240"/>
            <a:ext cx="822960" cy="548640"/>
          </a:xfrm>
          <a:prstGeom prst="rightArrow">
            <a:avLst/>
          </a:prstGeom>
          <a:solidFill>
            <a:srgbClr val="8A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69080" y="365760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6B625A"/>
                </a:solidFill>
                <a:latin typeface="Calibri"/>
              </a:rPr>
              <a:t>data/pdfs/
(a folder)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1371600"/>
            <a:ext cx="1371600" cy="640080"/>
          </a:xfrm>
          <a:prstGeom prst="roundRect">
            <a:avLst>
              <a:gd name="adj" fmla="val 15000"/>
            </a:avLst>
          </a:prstGeom>
          <a:solidFill>
            <a:srgbClr val="2B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137160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Parse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1417320"/>
            <a:ext cx="48920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2B2622"/>
                </a:solidFill>
                <a:latin typeface="Calibri"/>
              </a:rPr>
              <a:t>PyMuPDF4LLM to markdown; header/footer removal; references excised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2157984"/>
            <a:ext cx="1371600" cy="640080"/>
          </a:xfrm>
          <a:prstGeom prst="roundRect">
            <a:avLst>
              <a:gd name="adj" fmla="val 15000"/>
            </a:avLst>
          </a:prstGeom>
          <a:solidFill>
            <a:srgbClr val="2B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2157984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Chunk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203703"/>
            <a:ext cx="48920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2B2622"/>
                </a:solidFill>
                <a:latin typeface="Calibri"/>
              </a:rPr>
              <a:t>Headings first, then 512-token windows with overlap; section title prepended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0" y="2944368"/>
            <a:ext cx="1371600" cy="640080"/>
          </a:xfrm>
          <a:prstGeom prst="roundRect">
            <a:avLst>
              <a:gd name="adj" fmla="val 15000"/>
            </a:avLst>
          </a:prstGeom>
          <a:solidFill>
            <a:srgbClr val="2B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944368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Index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990087"/>
            <a:ext cx="48920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2B2622"/>
                </a:solidFill>
                <a:latin typeface="Calibri"/>
              </a:rPr>
              <a:t>SQLite FTS5 + sqlite-vec (NumPy fallback); bge-small 384-d; embedding cache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12080" y="3730752"/>
            <a:ext cx="1371600" cy="640080"/>
          </a:xfrm>
          <a:prstGeom prst="roundRect">
            <a:avLst>
              <a:gd name="adj" fmla="val 15000"/>
            </a:avLst>
          </a:prstGeom>
          <a:solidFill>
            <a:srgbClr val="2B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3730752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Retrieve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776472"/>
            <a:ext cx="48920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2B2622"/>
                </a:solidFill>
                <a:latin typeface="Calibri"/>
              </a:rPr>
              <a:t>BM25 | dense | hybrid (weighted RRF) | optional MiniLM cross-encoder rerank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12080" y="4517136"/>
            <a:ext cx="1371600" cy="640080"/>
          </a:xfrm>
          <a:prstGeom prst="roundRect">
            <a:avLst>
              <a:gd name="adj" fmla="val 15000"/>
            </a:avLst>
          </a:prstGeom>
          <a:solidFill>
            <a:srgbClr val="2B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4517136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Generate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4562855"/>
            <a:ext cx="48920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2B2622"/>
                </a:solidFill>
                <a:latin typeface="Calibri"/>
              </a:rPr>
              <a:t>Ollama Qwen3 on loopback; token-budgeted context; citation-forced prompt; integrity check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74920" y="5440680"/>
            <a:ext cx="6537960" cy="685800"/>
          </a:xfrm>
          <a:prstGeom prst="roundRect">
            <a:avLst>
              <a:gd name="adj" fmla="val 10000"/>
            </a:avLst>
          </a:prstGeom>
          <a:solidFill>
            <a:srgbClr val="F1D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57800" y="5486400"/>
            <a:ext cx="62179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2B2622"/>
                </a:solidFill>
                <a:latin typeface="Calibri"/>
              </a:rPr>
              <a:t>Privacy boundary (C1): no module from parse to generate may import an HTTP client; enforced by an AST test on every run. Paper text, chunks, embeddings and answers never leave the machine.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25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B2622"/>
                </a:solidFill>
                <a:latin typeface="Cambria"/>
              </a:rPr>
              <a:t>Results: retrieval ablation (30 questions, chunk-level, provisional)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25A"/>
                </a:solidFill>
                <a:latin typeface="Calibri"/>
              </a:rPr>
              <a:t>Local-First RAG Research Companion · September 2026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280160"/>
          <a:ext cx="676656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589520" y="1280160"/>
            <a:ext cx="4023360" cy="4846320"/>
          </a:xfrm>
          <a:prstGeom prst="roundRect">
            <a:avLst>
              <a:gd name="adj" fmla="val 300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4630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8A2B24"/>
                </a:solidFill>
                <a:latin typeface="Calibri"/>
              </a:rPr>
              <a:t>What the sweep says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1920240"/>
            <a:ext cx="36118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2B2622"/>
                </a:solidFill>
                <a:latin typeface="Calibri"/>
              </a:rPr>
              <a:t>–  BM25 wins chunk recall@5 (0.93); dense alone trails (0.73); hybrid sits between and has the best MRR without reranking.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B2622"/>
                </a:solidFill>
                <a:latin typeface="Calibri"/>
              </a:rPr>
              <a:t>–  Reranking lifts MRR to 0.73 but costs ~4 s per query on this CPU (vs 8-21 ms).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B2622"/>
                </a:solidFill>
                <a:latin typeface="Calibri"/>
              </a:rPr>
              <a:t>–  256-token chunks halve generation time for a small recall loss; 1024-token chunks cost the most and gain nothing.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B2622"/>
                </a:solidFill>
                <a:latin typeface="Calibri"/>
              </a:rPr>
              <a:t>–  Paper-level recall is 1.0 everywhere on 27 papers, which is why the chunk-level metric exists.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B2622"/>
                </a:solidFill>
                <a:latin typeface="Calibri"/>
              </a:rPr>
              <a:t>–  Retrieval latency p50: 8-21 ms; index 12-18 MB; 1,133 chunks; first embedding pass 9 chunks/s warm.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25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B2622"/>
                </a:solidFill>
                <a:latin typeface="Cambria"/>
              </a:rPr>
              <a:t>Results: generation and systems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25A"/>
                </a:solidFill>
                <a:latin typeface="Calibri"/>
              </a:rPr>
              <a:t>Local-First RAG Research Companion · September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106424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5184"/>
                <a:gridCol w="3721608"/>
                <a:gridCol w="4727448"/>
              </a:tblGrid>
              <a:tr h="66620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2B26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Qwen3 1.7B (8 configs)</a:t>
                      </a:r>
                    </a:p>
                  </a:txBody>
                  <a:tcPr>
                    <a:solidFill>
                      <a:srgbClr val="2B26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Qwen3 4B (5 configs)</a:t>
                      </a:r>
                    </a:p>
                  </a:txBody>
                  <a:tcPr>
                    <a:solidFill>
                      <a:srgbClr val="2B2622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2622"/>
                          </a:solidFill>
                          <a:latin typeface="Calibri"/>
                        </a:rPr>
                        <a:t>Citation integrity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B2622"/>
                          </a:solidFill>
                          <a:latin typeface="Calibri"/>
                        </a:rPr>
                        <a:t>1.00 in every config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B2622"/>
                          </a:solidFill>
                          <a:latin typeface="Calibri"/>
                        </a:rPr>
                        <a:t>1.00 in every config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2622"/>
                          </a:solidFill>
                          <a:latin typeface="Calibri"/>
                        </a:rPr>
                        <a:t>Answers with a citation</a:t>
                      </a:r>
                    </a:p>
                  </a:txBody>
                  <a:tcPr marL="54864" marR="54864" marT="27432" marB="27432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B2622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54864" marR="54864" marT="27432" marB="27432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B2622"/>
                          </a:solidFill>
                          <a:latin typeface="Calibri"/>
                        </a:rPr>
                        <a:t>83-93% (1-4 lost to the 1,536-token reasoning cap)</a:t>
                      </a:r>
                    </a:p>
                  </a:txBody>
                  <a:tcPr marL="54864" marR="54864" marT="27432" marB="27432">
                    <a:solidFill>
                      <a:srgbClr val="F4F1EC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2622"/>
                          </a:solidFill>
                          <a:latin typeface="Calibri"/>
                        </a:rPr>
                        <a:t>Generation p50 per answer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B2622"/>
                          </a:solidFill>
                          <a:latin typeface="Calibri"/>
                        </a:rPr>
                        <a:t>50-195 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B2622"/>
                          </a:solidFill>
                          <a:latin typeface="Calibri"/>
                        </a:rPr>
                        <a:t>62-99 s (thinks first: ~2.5k chars of reasoning)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2622"/>
                          </a:solidFill>
                          <a:latin typeface="Calibri"/>
                        </a:rPr>
                        <a:t>Tokens per second</a:t>
                      </a:r>
                    </a:p>
                  </a:txBody>
                  <a:tcPr marL="54864" marR="54864" marT="27432" marB="27432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B2622"/>
                          </a:solidFill>
                          <a:latin typeface="Calibri"/>
                        </a:rPr>
                        <a:t>8-12 (post-reboot) / 37 (day 1)</a:t>
                      </a:r>
                    </a:p>
                  </a:txBody>
                  <a:tcPr marL="54864" marR="54864" marT="27432" marB="27432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B2622"/>
                          </a:solidFill>
                          <a:latin typeface="Calibri"/>
                        </a:rPr>
                        <a:t>8-10</a:t>
                      </a:r>
                    </a:p>
                  </a:txBody>
                  <a:tcPr marL="54864" marR="54864" marT="27432" marB="27432">
                    <a:solidFill>
                      <a:srgbClr val="F4F1EC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2622"/>
                          </a:solidFill>
                          <a:latin typeface="Calibri"/>
                        </a:rPr>
                        <a:t>Resident memory (Ollama)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B2622"/>
                          </a:solidFill>
                          <a:latin typeface="Calibri"/>
                        </a:rPr>
                        <a:t>1.8 GB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B2622"/>
                          </a:solidFill>
                          <a:latin typeface="Calibri"/>
                        </a:rPr>
                        <a:t>3.4 GB; machine peak ~4.1 GB (&lt; 6 GB ceiling)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6621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2622"/>
                          </a:solidFill>
                          <a:latin typeface="Calibri"/>
                        </a:rPr>
                        <a:t>Correctness on 5 sampled questions</a:t>
                      </a:r>
                    </a:p>
                  </a:txBody>
                  <a:tcPr marL="54864" marR="54864" marT="27432" marB="27432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B2622"/>
                          </a:solidFill>
                          <a:latin typeface="Calibri"/>
                        </a:rPr>
                        <a:t>3 of 5 (two wrong numbers)</a:t>
                      </a:r>
                    </a:p>
                  </a:txBody>
                  <a:tcPr marL="54864" marR="54864" marT="27432" marB="27432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B2622"/>
                          </a:solidFill>
                          <a:latin typeface="Calibri"/>
                        </a:rPr>
                        <a:t>4 of 5</a:t>
                      </a:r>
                    </a:p>
                  </a:txBody>
                  <a:tcPr marL="54864" marR="54864" marT="27432" marB="27432">
                    <a:solidFill>
                      <a:srgbClr val="F4F1E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03504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625A"/>
                </a:solidFill>
                <a:latin typeface="Calibri"/>
              </a:rPr>
              <a:t>Eval set: 30 agent-drafted questions over 24 papers, flagged unverified; every metric row carries that flag until human verification. Throughput fell 3-4x after a system reset (CPU, memory, thermal, security and engine settings checked normal); reported as a finding.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25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B2622"/>
                </a:solidFill>
                <a:latin typeface="Cambria"/>
              </a:rPr>
              <a:t>Pending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25A"/>
                </a:solidFill>
                <a:latin typeface="Calibri"/>
              </a:rPr>
              <a:t>Local-First RAG Research Companion · September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34924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5544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8A2B24"/>
                </a:solidFill>
                <a:latin typeface="Calibri"/>
              </a:rPr>
              <a:t>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011680"/>
            <a:ext cx="48463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250">
                <a:solidFill>
                  <a:srgbClr val="2B2622"/>
                </a:solidFill>
                <a:latin typeface="Calibri"/>
              </a:rPr>
              <a:t>–  Verify the 30-question eval set by hand against the quoted passages (SPEC 9.1) and rerun the sweep on verified ground truth.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2B2622"/>
                </a:solidFill>
                <a:latin typeface="Calibri"/>
              </a:rPr>
              <a:t>–  Grade answer correctness manually for the 13 generated configs (results/answers_*.jsonl).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2B2622"/>
                </a:solidFill>
                <a:latin typeface="Calibri"/>
              </a:rPr>
              <a:t>–  Run the 4B model over the full sweep once machine throughput is back to day-1 levels; add the Q8 quantisation axis (model not yet pulled).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349240" cy="4937760"/>
          </a:xfrm>
          <a:prstGeom prst="roundRect">
            <a:avLst>
              <a:gd name="adj" fmla="val 300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59" y="15544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8A2B24"/>
                </a:solidFill>
                <a:latin typeface="Calibri"/>
              </a:rPr>
              <a:t>Corpus, report,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59" y="2011680"/>
            <a:ext cx="48463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250">
                <a:solidFill>
                  <a:srgbClr val="2B2622"/>
                </a:solidFill>
                <a:latin typeface="Calibri"/>
              </a:rPr>
              <a:t>–  Top up the corpus with retrieval-methods papers once arXiv search is reachable (currently rate-limited from this IP).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2B2622"/>
                </a:solidFill>
                <a:latin typeface="Calibri"/>
              </a:rPr>
              <a:t>–  Write the report: architecture, ablation table, limitations, throughput variance.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2B2622"/>
                </a:solidFill>
                <a:latin typeface="Calibri"/>
              </a:rPr>
              <a:t>–  Rehearse the Reading Room demo end to end; exercise the 'Add papers' flow live.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2B2622"/>
                </a:solidFill>
                <a:latin typeface="Calibri"/>
              </a:rPr>
              <a:t>–  Optional: user feedback from two or three researchers on the evidence panel.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25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B2622"/>
                </a:solidFill>
                <a:latin typeface="Cambria"/>
              </a:rPr>
              <a:t>Timeline to complete the remaining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25A"/>
                </a:solidFill>
                <a:latin typeface="Calibri"/>
              </a:rPr>
              <a:t>Local-First RAG Research Companion · September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194560" cy="822960"/>
          </a:xfrm>
          <a:prstGeom prst="roundRect">
            <a:avLst>
              <a:gd name="adj" fmla="val 12000"/>
            </a:avLst>
          </a:prstGeom>
          <a:solidFill>
            <a:srgbClr val="8A2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Week 1  (17-23 Sep)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463040"/>
            <a:ext cx="8732520" cy="822960"/>
          </a:xfrm>
          <a:prstGeom prst="roundRect">
            <a:avLst>
              <a:gd name="adj" fmla="val 1200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1463040"/>
            <a:ext cx="83210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B2622"/>
                </a:solidFill>
                <a:latin typeface="Calibri"/>
              </a:rPr>
              <a:t>Verify eval set; grade answers; rerun retrieval sweep on verified questions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2194560" cy="822960"/>
          </a:xfrm>
          <a:prstGeom prst="roundRect">
            <a:avLst>
              <a:gd name="adj" fmla="val 12000"/>
            </a:avLst>
          </a:prstGeom>
          <a:solidFill>
            <a:srgbClr val="8A2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0604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Week 2  (24-30 Sep)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2606040"/>
            <a:ext cx="8732520" cy="822960"/>
          </a:xfrm>
          <a:prstGeom prst="roundRect">
            <a:avLst>
              <a:gd name="adj" fmla="val 1200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2606040"/>
            <a:ext cx="83210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B2622"/>
                </a:solidFill>
                <a:latin typeface="Calibri"/>
              </a:rPr>
              <a:t>Full 4B sweep on a fast day; Q8 axis; arXiv top-up if reachable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49039"/>
            <a:ext cx="2194560" cy="822960"/>
          </a:xfrm>
          <a:prstGeom prst="roundRect">
            <a:avLst>
              <a:gd name="adj" fmla="val 12000"/>
            </a:avLst>
          </a:prstGeom>
          <a:solidFill>
            <a:srgbClr val="8A2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749039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Week 3  (1-7 Oct)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0360" y="3749039"/>
            <a:ext cx="8732520" cy="822960"/>
          </a:xfrm>
          <a:prstGeom prst="roundRect">
            <a:avLst>
              <a:gd name="adj" fmla="val 1200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3749039"/>
            <a:ext cx="83210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B2622"/>
                </a:solidFill>
                <a:latin typeface="Calibri"/>
              </a:rPr>
              <a:t>Report draft: architecture, ablation table, limitations; figures from runs.csv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892040"/>
            <a:ext cx="2194560" cy="822960"/>
          </a:xfrm>
          <a:prstGeom prst="roundRect">
            <a:avLst>
              <a:gd name="adj" fmla="val 12000"/>
            </a:avLst>
          </a:prstGeom>
          <a:solidFill>
            <a:srgbClr val="8A2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Week 4  (8-14 Oct)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80360" y="4892040"/>
            <a:ext cx="8732520" cy="822960"/>
          </a:xfrm>
          <a:prstGeom prst="roundRect">
            <a:avLst>
              <a:gd name="adj" fmla="val 1200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4892040"/>
            <a:ext cx="83210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B2622"/>
                </a:solidFill>
                <a:latin typeface="Calibri"/>
              </a:rPr>
              <a:t>Demo rehearsal, README pass, final commit and tag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0807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625A"/>
                </a:solidFill>
                <a:latin typeface="Calibri"/>
              </a:rPr>
              <a:t>Effort is bounded by machine time: a full generation sweep with the 4B model takes 6-8 hours on this CPU.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25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8AFA6"/>
                </a:solidFill>
                <a:latin typeface="Calibri"/>
              </a:rPr>
              <a:t>Local-First RAG Research Companion · September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74519"/>
            <a:ext cx="164592" cy="164592"/>
          </a:xfrm>
          <a:prstGeom prst="rect">
            <a:avLst/>
          </a:prstGeom>
          <a:solidFill>
            <a:srgbClr val="8A2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Plan for publication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105156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D9D2CA"/>
                </a:solidFill>
                <a:latin typeface="Calibri"/>
              </a:rPr>
              <a:t>–  No publication is planned for this work.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D9D2CA"/>
                </a:solidFill>
                <a:latin typeface="Calibri"/>
              </a:rPr>
              <a:t>–  Deliverables: public repository (MIT), written report, live demo and results/runs.csv.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D9D2CA"/>
                </a:solidFill>
                <a:latin typeface="Calibri"/>
              </a:rPr>
              <a:t>–  github.com/Charles2524/Research_RAG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B8AFA6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